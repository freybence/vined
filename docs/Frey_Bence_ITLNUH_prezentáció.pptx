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sldIdLst>
    <p:sldId id="256" r:id="rId5"/>
    <p:sldId id="270" r:id="rId6"/>
    <p:sldId id="258" r:id="rId7"/>
    <p:sldId id="269" r:id="rId8"/>
    <p:sldId id="274" r:id="rId9"/>
    <p:sldId id="271" r:id="rId10"/>
    <p:sldId id="272" r:id="rId11"/>
    <p:sldId id="273" r:id="rId12"/>
    <p:sldId id="268" r:id="rId13"/>
    <p:sldId id="265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8ABCB-AEBD-4ABD-97FF-C7B4CC7B16A4}" v="1" dt="2021-10-29T08:00:51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Közepesen sötét stílus 4 – 1. jelölőszín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E4268-BCCE-44E6-AFF6-6AF9705FEA76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B89C8-7D0B-4D65-B3EC-755E478EEB8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392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415654B6-ECD7-4714-BFD4-FAECE8F6C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805" y="1523963"/>
            <a:ext cx="5380220" cy="475907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4DA361B-554A-4E6C-8DA5-F4A1D967E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945178"/>
            <a:ext cx="4572000" cy="16557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6063F57-62AF-4209-85B8-2F27BC4C6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823855"/>
            <a:ext cx="4572000" cy="245918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5A67A0-3B2A-48B0-A6A2-960FB6E52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C312-7214-4DD7-BED4-DAA487A2660C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3368D0-5F67-4416-8C75-FCF4A25F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148EC2-6B17-4196-BDD0-71DA6093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543E8767-8B4F-45D0-9CB7-7B8D1E4F8595}"/>
              </a:ext>
            </a:extLst>
          </p:cNvPr>
          <p:cNvSpPr txBox="1"/>
          <p:nvPr userDrawn="1"/>
        </p:nvSpPr>
        <p:spPr>
          <a:xfrm>
            <a:off x="3709249" y="439265"/>
            <a:ext cx="6491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effectLst/>
              </a:rPr>
              <a:t>Budapest</a:t>
            </a:r>
            <a:r>
              <a:rPr lang="hu-HU" sz="2000" dirty="0">
                <a:solidFill>
                  <a:schemeClr val="tx1"/>
                </a:solidFill>
                <a:effectLst/>
              </a:rPr>
              <a:t>i Műszaki és Gazdaságtudományi Egyetem</a:t>
            </a:r>
            <a:endParaRPr lang="en-US" sz="2000" dirty="0">
              <a:solidFill>
                <a:schemeClr val="tx1"/>
              </a:solidFill>
              <a:effectLst/>
            </a:endParaRPr>
          </a:p>
          <a:p>
            <a:pPr algn="ctr"/>
            <a:r>
              <a:rPr lang="hu-HU" sz="2400" b="0" dirty="0">
                <a:solidFill>
                  <a:srgbClr val="002060"/>
                </a:solidFill>
                <a:effectLst/>
              </a:rPr>
              <a:t>Villamosmérnöki és Informatikai Kar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FFD7AA14-40D2-4593-943C-641B0BF6E2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9" y="484190"/>
            <a:ext cx="2527106" cy="6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0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FCF87A-E471-41BF-8736-85316952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D9DA3F-6A03-4823-BF4E-A1AAA79A2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10" y="1690688"/>
            <a:ext cx="10515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3601581-3693-4057-ABA6-7D33F4C2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6EBE85-CD8C-40F4-B440-0C0248B7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C4C0EA-A90D-4A57-983C-AAFF7E44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033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27A4922-5E33-4363-A531-3FD60567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0A92-51CA-4C05-A6ED-214EDE2DF6BF}" type="datetime1">
              <a:rPr lang="hu-HU" smtClean="0"/>
              <a:t>2026. 06. 04.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2B21A2C-9026-44B5-9FEE-C96D830C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392ABFE-5597-4540-9981-FA7D68B3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297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D6F7B4-A7E3-4178-9785-BE317F29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900B392-3004-4FDA-B7CA-DB6DCD8BC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EDB2C0-4ECE-43D5-B491-CD34C3AA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EE2B-C2ED-4422-9B42-24EB19D18ED0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138089B-B885-4AC3-AA5D-5A9E4CDE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829EA1-1A28-4702-B414-9FDDB3F7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359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BB18C4-9D09-4134-8222-ACA05F83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4303EE1-F29D-40EB-87B3-F53367B22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4F1B094-1AC8-4091-8554-613D688C2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25BDE0B-B814-4127-AB22-12E8683E0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22F8C87-E9A7-4885-940E-B7D314B4C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C859D89-7A7B-4988-B3CD-86C1FBC2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FEB5A-CB44-4735-B9FB-F0CAEBAEC60B}" type="datetime1">
              <a:rPr lang="hu-HU" smtClean="0"/>
              <a:t>2026. 06. 04.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35CBBC8-93A9-4E57-B765-571DE7FD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C8EB462-A0C9-495D-890F-7AADF967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603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9DBCDD-09E7-4D70-B161-65DDD34F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FB54C93-FF61-4548-B883-87C8D919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54B1-F88B-4328-83DE-FAB522D036D2}" type="datetime1">
              <a:rPr lang="hu-HU" smtClean="0"/>
              <a:t>2026. 06. 04.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27BD31A-0348-4B73-9746-0CC1A6C4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/>
          <a:lstStyle/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E398A6C-0D32-4CFE-92C0-FBADAA53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862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7C77222-48FA-424F-B479-556AC0E5D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87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EF3881-4349-46C7-AE19-536B9CD4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233707-64E5-4FE3-8551-EF251D47F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21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26758-5812-4DE9-81A6-74AC7588EFF1}" type="datetime1">
              <a:rPr lang="hu-HU" smtClean="0"/>
              <a:t>2026. 06. 04.</a:t>
            </a:fld>
            <a:r>
              <a:rPr lang="hu-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A9F201-67E7-491C-9B12-4D448FAE8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49237" y="6356350"/>
            <a:ext cx="71489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/>
              <a:t>Élőfej és Élőláb menüben írd be a rendezvény nevét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B537BA-88DB-4C96-B691-D8F2CC2FB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0109" y="6356350"/>
            <a:ext cx="574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6A0B-1885-47E1-92BC-8A7D1A028442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60EB3BFC-2E49-40B3-8BA7-8081E7A1D640}"/>
              </a:ext>
            </a:extLst>
          </p:cNvPr>
          <p:cNvSpPr/>
          <p:nvPr userDrawn="1"/>
        </p:nvSpPr>
        <p:spPr>
          <a:xfrm>
            <a:off x="0" y="0"/>
            <a:ext cx="180109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Kép 11" descr="A képen szöveg, aláírás, kültéri látható&#10;&#10;Automatikusan generált leírás">
            <a:extLst>
              <a:ext uri="{FF2B5EF4-FFF2-40B4-BE49-F238E27FC236}">
                <a16:creationId xmlns:a16="http://schemas.microsoft.com/office/drawing/2014/main" id="{8D0EABBD-E54E-4322-8FF2-9D60CBAE5DE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20" y="360218"/>
            <a:ext cx="706562" cy="861002"/>
          </a:xfrm>
          <a:prstGeom prst="rect">
            <a:avLst/>
          </a:prstGeom>
        </p:spPr>
      </p:pic>
      <p:sp>
        <p:nvSpPr>
          <p:cNvPr id="13" name="Élőláb helye 4">
            <a:extLst>
              <a:ext uri="{FF2B5EF4-FFF2-40B4-BE49-F238E27FC236}">
                <a16:creationId xmlns:a16="http://schemas.microsoft.com/office/drawing/2014/main" id="{32AC862B-037B-4EEE-9930-E43AE44AB8D7}"/>
              </a:ext>
            </a:extLst>
          </p:cNvPr>
          <p:cNvSpPr txBox="1">
            <a:spLocks/>
          </p:cNvSpPr>
          <p:nvPr userDrawn="1"/>
        </p:nvSpPr>
        <p:spPr>
          <a:xfrm>
            <a:off x="11125219" y="6384788"/>
            <a:ext cx="886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hu-H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b="1">
                <a:solidFill>
                  <a:schemeClr val="accent1"/>
                </a:solidFill>
              </a:rPr>
              <a:t>BME VIK</a:t>
            </a:r>
          </a:p>
        </p:txBody>
      </p:sp>
    </p:spTree>
    <p:extLst>
      <p:ext uri="{BB962C8B-B14F-4D97-AF65-F5344CB8AC3E}">
        <p14:creationId xmlns:p14="http://schemas.microsoft.com/office/powerpoint/2010/main" val="312706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  <p:sldLayoutId id="2147483653" r:id="rId5"/>
    <p:sldLayoutId id="214748365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89FC158B-4764-4C24-AD03-9A4516FEE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747" y="2448231"/>
            <a:ext cx="6213987" cy="2883109"/>
          </a:xfrm>
        </p:spPr>
        <p:txBody>
          <a:bodyPr>
            <a:noAutofit/>
          </a:bodyPr>
          <a:lstStyle/>
          <a:p>
            <a:pPr algn="l"/>
            <a:br>
              <a:rPr lang="hu-HU" sz="4000" dirty="0"/>
            </a:br>
            <a:r>
              <a:rPr lang="hu-HU" sz="4000" b="1" cap="all" dirty="0"/>
              <a:t>Mesterséges intelligencia alkalmazása agyszövetbe ültetett elektródákból származó jelek feldolgozására</a:t>
            </a:r>
            <a:r>
              <a:rPr lang="hu-HU" sz="4000" dirty="0"/>
              <a:t> 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3282327-0A83-52C3-C821-BF8283FF0870}"/>
              </a:ext>
            </a:extLst>
          </p:cNvPr>
          <p:cNvSpPr txBox="1"/>
          <p:nvPr/>
        </p:nvSpPr>
        <p:spPr>
          <a:xfrm>
            <a:off x="471948" y="6216243"/>
            <a:ext cx="62139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Név: Frey Bence		Belső konzulens: Dr. </a:t>
            </a:r>
            <a:r>
              <a:rPr lang="hu-HU" dirty="0" err="1"/>
              <a:t>Szlávecz</a:t>
            </a:r>
            <a:r>
              <a:rPr lang="hu-HU" dirty="0"/>
              <a:t> Ákos</a:t>
            </a:r>
          </a:p>
          <a:p>
            <a:r>
              <a:rPr lang="hu-HU" dirty="0"/>
              <a:t>NK: ITLNUH		Külső konzulens: Dr. </a:t>
            </a:r>
            <a:r>
              <a:rPr lang="hu-HU" dirty="0" err="1"/>
              <a:t>Rokai</a:t>
            </a:r>
            <a:r>
              <a:rPr lang="hu-HU" dirty="0"/>
              <a:t> János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987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6B1EDB-7EB1-1AFC-BF2E-03787B42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Kutatási célkitűzések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EB666F-2289-A6DD-D224-9B6EFB06E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hu-HU" dirty="0"/>
              <a:t>Annak meghatározása, hogy egy kép vagy videó milyen neurális aktivitást vált ki. </a:t>
            </a:r>
          </a:p>
          <a:p>
            <a:endParaRPr lang="hu-HU" dirty="0"/>
          </a:p>
          <a:p>
            <a:r>
              <a:rPr lang="hu-HU" dirty="0"/>
              <a:t>Annak vizsgálata, hogy a neurális aktivitás alapján visszakövetkeztethető-e a látott tartalom.</a:t>
            </a:r>
          </a:p>
          <a:p>
            <a:pPr marL="0" indent="0">
              <a:buNone/>
            </a:pPr>
            <a:r>
              <a:rPr lang="hu-HU" dirty="0"/>
              <a:t> </a:t>
            </a:r>
          </a:p>
          <a:p>
            <a:r>
              <a:rPr lang="hu-HU" dirty="0"/>
              <a:t>Mély tanulás alkalmazása az agyi jelek értelmezésére. 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69A00B-C7FB-AA4D-C096-F236447C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EEE6B5-3CC2-3591-2EB7-5F79ABF3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0DCA7C-11B4-B4DD-1B9F-5E56C374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271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1385FF-32B0-9E76-F0C4-FBA02175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IBL adatkészlet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145A11-E0CA-C189-7BB0-FD09178C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10" y="2614920"/>
            <a:ext cx="10515600" cy="2330706"/>
          </a:xfrm>
        </p:spPr>
        <p:txBody>
          <a:bodyPr/>
          <a:lstStyle/>
          <a:p>
            <a:r>
              <a:rPr lang="hu-HU" dirty="0"/>
              <a:t>Vizualizált döntéshozatali feladat.</a:t>
            </a:r>
          </a:p>
          <a:p>
            <a:r>
              <a:rPr lang="hu-HU" dirty="0" err="1"/>
              <a:t>Neuropixels</a:t>
            </a:r>
            <a:r>
              <a:rPr lang="hu-HU" dirty="0"/>
              <a:t> elektródák: több száz </a:t>
            </a:r>
            <a:br>
              <a:rPr lang="hu-HU" dirty="0"/>
            </a:br>
            <a:r>
              <a:rPr lang="hu-HU" dirty="0"/>
              <a:t>neuron egyidejű rögzítése</a:t>
            </a:r>
          </a:p>
          <a:p>
            <a:r>
              <a:rPr lang="hu-HU" dirty="0"/>
              <a:t>Standardizált, nyílt hozzáférésű neurális, </a:t>
            </a:r>
            <a:br>
              <a:rPr lang="hu-HU" dirty="0"/>
            </a:br>
            <a:r>
              <a:rPr lang="hu-HU" dirty="0"/>
              <a:t>viselkedéses és vizuális adatok</a:t>
            </a:r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02CFABB-3741-CC8E-E678-5D22409F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8FD808-AC2F-76C0-5101-BADB88AA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D38643-D122-E91B-DD99-2AECB9AB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3</a:t>
            </a:fld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F2B7834-D3BE-9071-E629-BD9DF9D4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20" y="1837096"/>
            <a:ext cx="34671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8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481F-FE52-32CF-8F7B-2210B2D5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A0F6AF-32E7-3D30-B1BB-D12888A8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 dirty="0" err="1"/>
              <a:t>Neural</a:t>
            </a:r>
            <a:r>
              <a:rPr lang="hu-HU" altLang="hu-HU" dirty="0"/>
              <a:t> </a:t>
            </a:r>
            <a:r>
              <a:rPr lang="hu-HU" altLang="hu-HU" dirty="0" err="1"/>
              <a:t>Encoding</a:t>
            </a:r>
            <a:r>
              <a:rPr lang="hu-HU" altLang="hu-HU" dirty="0"/>
              <a:t> and </a:t>
            </a:r>
            <a:r>
              <a:rPr lang="hu-HU" altLang="hu-HU" dirty="0" err="1"/>
              <a:t>Decoding</a:t>
            </a:r>
            <a:r>
              <a:rPr lang="hu-HU" altLang="hu-HU" dirty="0"/>
              <a:t> </a:t>
            </a:r>
            <a:r>
              <a:rPr lang="hu-HU" altLang="hu-HU" dirty="0" err="1"/>
              <a:t>at</a:t>
            </a:r>
            <a:r>
              <a:rPr lang="hu-HU" altLang="hu-HU" dirty="0"/>
              <a:t> </a:t>
            </a:r>
            <a:r>
              <a:rPr lang="hu-HU" altLang="hu-HU" dirty="0" err="1"/>
              <a:t>Scale</a:t>
            </a:r>
            <a:r>
              <a:rPr lang="hu-HU" altLang="hu-HU" dirty="0"/>
              <a:t> (NEDS)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EF1F13-2908-C5DB-D871-B9F6E4E8E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10" y="2381301"/>
            <a:ext cx="10515600" cy="3284435"/>
          </a:xfrm>
        </p:spPr>
        <p:txBody>
          <a:bodyPr>
            <a:normAutofit/>
          </a:bodyPr>
          <a:lstStyle/>
          <a:p>
            <a:r>
              <a:rPr lang="hu-HU" sz="2400" dirty="0"/>
              <a:t>Viselkedési, neurális és feladatszintű </a:t>
            </a:r>
            <a:br>
              <a:rPr lang="hu-HU" sz="2400" dirty="0"/>
            </a:br>
            <a:r>
              <a:rPr lang="hu-HU" sz="2400" dirty="0"/>
              <a:t>információk időablakos reprezentációja</a:t>
            </a:r>
          </a:p>
          <a:p>
            <a:r>
              <a:rPr lang="hu-HU" sz="2400" dirty="0"/>
              <a:t>Transzformátor architektúra</a:t>
            </a:r>
          </a:p>
          <a:p>
            <a:r>
              <a:rPr lang="hu-HU" sz="2400" dirty="0"/>
              <a:t>Viselkedést </a:t>
            </a:r>
            <a:r>
              <a:rPr lang="hu-HU" sz="2400" dirty="0" err="1"/>
              <a:t>prediktál</a:t>
            </a:r>
            <a:endParaRPr lang="hu-HU" sz="2400" dirty="0"/>
          </a:p>
          <a:p>
            <a:r>
              <a:rPr lang="hu-HU" sz="2400" dirty="0" err="1"/>
              <a:t>Predikció</a:t>
            </a:r>
            <a:r>
              <a:rPr lang="hu-HU" sz="2400" dirty="0"/>
              <a:t> javítása több munkamenet </a:t>
            </a:r>
            <a:br>
              <a:rPr lang="hu-HU" sz="2400" dirty="0"/>
            </a:br>
            <a:r>
              <a:rPr lang="hu-HU" sz="2400" dirty="0"/>
              <a:t>felhasználásával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4A7BBCB-3DBF-4884-BE1B-DF540015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EC03EE1-7CFE-50D6-DCC3-506D57E1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5F923EC-4603-8226-76D3-0931FECD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4</a:t>
            </a:fld>
            <a:endParaRPr lang="hu-HU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6EF8FD4C-EB15-83B1-BBCE-3A48AC07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32" b="10307"/>
          <a:stretch>
            <a:fillRect/>
          </a:stretch>
        </p:blipFill>
        <p:spPr>
          <a:xfrm>
            <a:off x="6096000" y="2148508"/>
            <a:ext cx="5760979" cy="293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1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B115ED-1063-8436-2055-E919EC0E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Saját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5C6847-71F2-040D-E141-E3EC23326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829"/>
            <a:ext cx="5798574" cy="1839171"/>
          </a:xfrm>
        </p:spPr>
        <p:txBody>
          <a:bodyPr>
            <a:normAutofit/>
          </a:bodyPr>
          <a:lstStyle/>
          <a:p>
            <a:r>
              <a:rPr lang="hu-HU" sz="2400" dirty="0"/>
              <a:t>NEDS modellre épül</a:t>
            </a:r>
          </a:p>
          <a:p>
            <a:r>
              <a:rPr lang="hu-HU" sz="2400" dirty="0"/>
              <a:t>Viselkedés helyett vizuális inger </a:t>
            </a:r>
            <a:r>
              <a:rPr lang="hu-HU" sz="2400" dirty="0" err="1"/>
              <a:t>predikciója</a:t>
            </a:r>
            <a:endParaRPr lang="hu-HU" sz="2400" dirty="0"/>
          </a:p>
          <a:p>
            <a:r>
              <a:rPr lang="hu-HU" sz="2400" dirty="0"/>
              <a:t>CLIP alkalmazása videók feldolgozásra</a:t>
            </a:r>
          </a:p>
          <a:p>
            <a:r>
              <a:rPr lang="hu-HU" sz="2400" dirty="0"/>
              <a:t>Kétirányú neurális–vizuális </a:t>
            </a:r>
            <a:r>
              <a:rPr lang="hu-HU" sz="2400" dirty="0" err="1"/>
              <a:t>predikció</a:t>
            </a:r>
            <a:endParaRPr lang="hu-HU" sz="2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C5EA7B1-5AA5-FDE2-664C-02ACF8AF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7335C3C-A7D9-51B0-B445-1903A493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092A91-1F13-85EB-9BA1-2955603A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5</a:t>
            </a:fld>
            <a:endParaRPr lang="hu-HU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F26652EF-FC53-952C-8655-297D0892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9" t="18393" r="-69" b="20443"/>
          <a:stretch>
            <a:fillRect/>
          </a:stretch>
        </p:blipFill>
        <p:spPr>
          <a:xfrm>
            <a:off x="2407236" y="3591836"/>
            <a:ext cx="8113279" cy="260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4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529228-62C2-4308-CC67-5E585C87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Saját modell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D682F6-A0E0-BE68-4607-D363EE49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4ADFAF-AF4C-08C7-54F3-230BB94D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75A945-85FD-063E-9C14-56B7D49F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6</a:t>
            </a:fld>
            <a:endParaRPr lang="hu-HU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67A21150-BD54-E946-9DDF-22B8BF484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5"/>
          <a:stretch>
            <a:fillRect/>
          </a:stretch>
        </p:blipFill>
        <p:spPr bwMode="auto">
          <a:xfrm>
            <a:off x="1330940" y="1608188"/>
            <a:ext cx="9103380" cy="46082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636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BE822-8E57-66A8-F69A-99CD7F7C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Metrikák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67A0C1-D318-EE7B-A758-C7AF4C24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kern="100" dirty="0"/>
              <a:t>koszinusz-hasonlóság: </a:t>
            </a:r>
            <a:r>
              <a:rPr lang="hu-HU" dirty="0"/>
              <a:t>a </a:t>
            </a:r>
            <a:r>
              <a:rPr lang="hu-HU" dirty="0" err="1"/>
              <a:t>prediktált</a:t>
            </a:r>
            <a:r>
              <a:rPr lang="hu-HU" dirty="0"/>
              <a:t> és valós vizuális reprezentáció hasonlósága „CLIP látens terében”</a:t>
            </a:r>
          </a:p>
          <a:p>
            <a:endParaRPr lang="hu-HU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kern="100" dirty="0"/>
              <a:t>Próba szintű R</a:t>
            </a:r>
            <a:r>
              <a:rPr lang="hu-HU" kern="100" baseline="30000" dirty="0"/>
              <a:t>2</a:t>
            </a:r>
            <a:r>
              <a:rPr lang="hu-HU" kern="100" dirty="0"/>
              <a:t>: p</a:t>
            </a:r>
            <a:r>
              <a:rPr lang="hu-HU" dirty="0"/>
              <a:t>róbaszintű neurális aktivitás illeszkedésének vizsgálata </a:t>
            </a:r>
            <a:endParaRPr lang="hu-HU" kern="100" baseline="30000" dirty="0"/>
          </a:p>
          <a:p>
            <a:endParaRPr lang="hu-HU" kern="100" baseline="30000" dirty="0"/>
          </a:p>
          <a:p>
            <a:r>
              <a:rPr lang="hu-HU" kern="100" dirty="0"/>
              <a:t>Inger körüli időhisztogram (PSTH) R</a:t>
            </a:r>
            <a:r>
              <a:rPr lang="hu-HU" kern="100" baseline="30000" dirty="0"/>
              <a:t>2</a:t>
            </a:r>
            <a:r>
              <a:rPr lang="hu-HU" kern="100" dirty="0"/>
              <a:t>: neuron aktivitások i</a:t>
            </a:r>
            <a:r>
              <a:rPr lang="hu-HU" dirty="0"/>
              <a:t>dőbeli illeszkedésének vizsgálata</a:t>
            </a:r>
            <a:endParaRPr lang="hu-HU" kern="100" baseline="30000" dirty="0"/>
          </a:p>
          <a:p>
            <a:endParaRPr lang="hu-HU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kern="100" dirty="0" err="1"/>
              <a:t>Tüzelésenkénti</a:t>
            </a:r>
            <a:r>
              <a:rPr lang="hu-HU" kern="100" dirty="0"/>
              <a:t> bitek (BPS): </a:t>
            </a:r>
            <a:r>
              <a:rPr lang="hu-HU" dirty="0"/>
              <a:t>a neurális </a:t>
            </a:r>
            <a:r>
              <a:rPr lang="hu-HU" dirty="0" err="1"/>
              <a:t>predikció</a:t>
            </a:r>
            <a:r>
              <a:rPr lang="hu-HU" dirty="0"/>
              <a:t> információtartalmának mérése</a:t>
            </a:r>
            <a:endParaRPr lang="hu-HU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AD1F7E-6724-5B0F-943F-07BE4C18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FEF794-EA79-D0AA-7BF4-323AB0A6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6FCD8F-7FB2-D4EF-8E68-D0D57472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D91299-C11E-0EC3-26DA-D01A4B37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Eredmények</a:t>
            </a:r>
          </a:p>
        </p:txBody>
      </p:sp>
      <p:graphicFrame>
        <p:nvGraphicFramePr>
          <p:cNvPr id="7" name="Tartalom helye 6">
            <a:extLst>
              <a:ext uri="{FF2B5EF4-FFF2-40B4-BE49-F238E27FC236}">
                <a16:creationId xmlns:a16="http://schemas.microsoft.com/office/drawing/2014/main" id="{755F9F0A-25F4-89D6-D4DD-25053987C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162051"/>
              </p:ext>
            </p:extLst>
          </p:nvPr>
        </p:nvGraphicFramePr>
        <p:xfrm>
          <a:off x="838199" y="1690688"/>
          <a:ext cx="9790472" cy="2124528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895236">
                  <a:extLst>
                    <a:ext uri="{9D8B030D-6E8A-4147-A177-3AD203B41FA5}">
                      <a16:colId xmlns:a16="http://schemas.microsoft.com/office/drawing/2014/main" val="4148294497"/>
                    </a:ext>
                  </a:extLst>
                </a:gridCol>
                <a:gridCol w="4895236">
                  <a:extLst>
                    <a:ext uri="{9D8B030D-6E8A-4147-A177-3AD203B41FA5}">
                      <a16:colId xmlns:a16="http://schemas.microsoft.com/office/drawing/2014/main" val="3759328156"/>
                    </a:ext>
                  </a:extLst>
                </a:gridCol>
              </a:tblGrid>
              <a:tr h="531132"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CLIP koszinusz-hasonlóság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0.99175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1322541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Próba szintű R</a:t>
                      </a:r>
                      <a:r>
                        <a:rPr lang="hu-HU" sz="1800" kern="100" baseline="30000" dirty="0">
                          <a:effectLst/>
                        </a:rPr>
                        <a:t>2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-0.00389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587568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PSTH R</a:t>
                      </a:r>
                      <a:r>
                        <a:rPr lang="hu-HU" sz="1800" kern="100" baseline="30000" dirty="0">
                          <a:effectLst/>
                        </a:rPr>
                        <a:t>2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>
                          <a:effectLst/>
                        </a:rPr>
                        <a:t>-0.67825</a:t>
                      </a:r>
                      <a:endParaRPr lang="hu-H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6840612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 err="1">
                          <a:effectLst/>
                        </a:rPr>
                        <a:t>Tüzelésenkénti</a:t>
                      </a:r>
                      <a:r>
                        <a:rPr lang="hu-HU" sz="1800" kern="100" dirty="0">
                          <a:effectLst/>
                        </a:rPr>
                        <a:t> bitek (BPS)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u-HU" sz="1800" kern="100" dirty="0">
                          <a:effectLst/>
                        </a:rPr>
                        <a:t>-0.01476</a:t>
                      </a:r>
                      <a:endParaRPr lang="hu-H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6305569"/>
                  </a:ext>
                </a:extLst>
              </a:tr>
            </a:tbl>
          </a:graphicData>
        </a:graphic>
      </p:graphicFrame>
      <p:sp>
        <p:nvSpPr>
          <p:cNvPr id="4" name="Dátum helye 3">
            <a:extLst>
              <a:ext uri="{FF2B5EF4-FFF2-40B4-BE49-F238E27FC236}">
                <a16:creationId xmlns:a16="http://schemas.microsoft.com/office/drawing/2014/main" id="{CB2ADD88-EE8A-8E3D-0938-48055615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E77298-76A5-D4F3-B779-AA024587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B992E4F-5D8E-A545-6609-4EFA1C8A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8</a:t>
            </a:fld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A86B88C-42E2-0A33-6E13-CBBC019D25AE}"/>
              </a:ext>
            </a:extLst>
          </p:cNvPr>
          <p:cNvSpPr txBox="1"/>
          <p:nvPr/>
        </p:nvSpPr>
        <p:spPr>
          <a:xfrm>
            <a:off x="963561" y="4001729"/>
            <a:ext cx="9104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kern="100" dirty="0"/>
              <a:t>Magas CLIP beágyazás előrejelzés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kern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kern="100" dirty="0"/>
              <a:t>Alacsony neurális előrejelzés</a:t>
            </a:r>
          </a:p>
        </p:txBody>
      </p:sp>
    </p:spTree>
    <p:extLst>
      <p:ext uri="{BB962C8B-B14F-4D97-AF65-F5344CB8AC3E}">
        <p14:creationId xmlns:p14="http://schemas.microsoft.com/office/powerpoint/2010/main" val="404041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E18D8-CB17-2682-00F3-46F7B13B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601FAE-896D-98BE-32DD-833D40AA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Jövőbeli tervek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D57C7A-8C46-E19E-2DEF-20EBBF6C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BD088-1C36-43DD-9E12-AE6598363F59}" type="datetime1">
              <a:rPr lang="hu-HU" smtClean="0"/>
              <a:t>2026. 06. 04.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3EB535-D31A-6500-C428-7A6F467C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B0B28E-B989-84BF-D9AF-BBC9C19A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9</a:t>
            </a:fld>
            <a:endParaRPr lang="hu-HU"/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7A5D3D45-35CC-3936-37DB-C31657EAE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Elkészített modell jelenlegi hibáinak javítása</a:t>
            </a:r>
          </a:p>
          <a:p>
            <a:endParaRPr lang="hu-HU" dirty="0"/>
          </a:p>
          <a:p>
            <a:r>
              <a:rPr lang="hu-HU" dirty="0"/>
              <a:t>Esemény modalitások hozzáadása a modellhez</a:t>
            </a:r>
          </a:p>
          <a:p>
            <a:endParaRPr lang="hu-HU" dirty="0"/>
          </a:p>
          <a:p>
            <a:r>
              <a:rPr lang="hu-HU" dirty="0"/>
              <a:t>További neurális információk </a:t>
            </a:r>
            <a:r>
              <a:rPr lang="hu-HU" dirty="0" err="1"/>
              <a:t>prediktálása</a:t>
            </a:r>
            <a:r>
              <a:rPr lang="hu-HU" dirty="0"/>
              <a:t> (neuron régiók, klaszterek)</a:t>
            </a:r>
          </a:p>
        </p:txBody>
      </p:sp>
    </p:spTree>
    <p:extLst>
      <p:ext uri="{BB962C8B-B14F-4D97-AF65-F5344CB8AC3E}">
        <p14:creationId xmlns:p14="http://schemas.microsoft.com/office/powerpoint/2010/main" val="145609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0CE5AB-FCDA-4A00-3DB3-24E27A9F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222"/>
            <a:ext cx="10287020" cy="1325563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D4BE80E-8C5D-4E39-3107-56A90728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54B1-F88B-4328-83DE-FAB522D036D2}" type="datetime1">
              <a:rPr lang="hu-HU" smtClean="0"/>
              <a:t>2026. 06. 04.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2FD5A5D-C735-B16F-0DF1-E107D1FF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Frey Bence (ITLNUH)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22671A9-15D1-BE98-E79D-8B4BFF0D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6A0B-1885-47E1-92BC-8A7D1A028442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2951046"/>
      </p:ext>
    </p:extLst>
  </p:cSld>
  <p:clrMapOvr>
    <a:masterClrMapping/>
  </p:clrMapOvr>
</p:sld>
</file>

<file path=ppt/theme/theme1.xml><?xml version="1.0" encoding="utf-8"?>
<a:theme xmlns:a="http://schemas.openxmlformats.org/drawingml/2006/main" name="VIK sablon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9D574B1FC5CE7D419C037DC6AB881D60" ma:contentTypeVersion="12" ma:contentTypeDescription="Új dokumentum létrehozása." ma:contentTypeScope="" ma:versionID="781ff1f3b8bb9b134c78907ab6166b73">
  <xsd:schema xmlns:xsd="http://www.w3.org/2001/XMLSchema" xmlns:xs="http://www.w3.org/2001/XMLSchema" xmlns:p="http://schemas.microsoft.com/office/2006/metadata/properties" xmlns:ns2="ccee7b21-b760-4401-96ef-74da0c12b547" xmlns:ns3="66fea738-b356-47ee-9ac9-90f9573d8e9a" targetNamespace="http://schemas.microsoft.com/office/2006/metadata/properties" ma:root="true" ma:fieldsID="0e0f042537b3f2f8b3bcab06527d3b07" ns2:_="" ns3:_="">
    <xsd:import namespace="ccee7b21-b760-4401-96ef-74da0c12b547"/>
    <xsd:import namespace="66fea738-b356-47ee-9ac9-90f9573d8e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e7b21-b760-4401-96ef-74da0c12b5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ea738-b356-47ee-9ac9-90f9573d8e9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6fea738-b356-47ee-9ac9-90f9573d8e9a">
      <UserInfo>
        <DisplayName>Dallos Györgyi</DisplayName>
        <AccountId>12</AccountId>
        <AccountType/>
      </UserInfo>
      <UserInfo>
        <DisplayName>Charaf Hassan</DisplayName>
        <AccountId>33</AccountId>
        <AccountType/>
      </UserInfo>
      <UserInfo>
        <DisplayName>Géczy Attila</DisplayName>
        <AccountId>13</AccountId>
        <AccountType/>
      </UserInfo>
      <UserInfo>
        <DisplayName>Dr. Csorba Kristóf</DisplayName>
        <AccountId>67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36255C4-E81F-40BF-9F66-112F613525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2D0554-5584-411B-A8A6-7E50AF6D7F4C}">
  <ds:schemaRefs>
    <ds:schemaRef ds:uri="66fea738-b356-47ee-9ac9-90f9573d8e9a"/>
    <ds:schemaRef ds:uri="ccee7b21-b760-4401-96ef-74da0c12b5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2A16F43-F8A2-4842-9F85-A7155EBFB28D}">
  <ds:schemaRefs>
    <ds:schemaRef ds:uri="66fea738-b356-47ee-9ac9-90f9573d8e9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4319</TotalTime>
  <Words>311</Words>
  <Application>Microsoft Office PowerPoint</Application>
  <PresentationFormat>Szélesvásznú</PresentationFormat>
  <Paragraphs>78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VIK sablon 1</vt:lpstr>
      <vt:lpstr> Mesterséges intelligencia alkalmazása agyszövetbe ültetett elektródákból származó jelek feldolgozására </vt:lpstr>
      <vt:lpstr>Kutatási célkitűzések</vt:lpstr>
      <vt:lpstr>IBL adatkészlet</vt:lpstr>
      <vt:lpstr>Neural Encoding and Decoding at Scale (NEDS)</vt:lpstr>
      <vt:lpstr>Saját modell</vt:lpstr>
      <vt:lpstr>Saját modell</vt:lpstr>
      <vt:lpstr>Metrikák </vt:lpstr>
      <vt:lpstr>Eredmények</vt:lpstr>
      <vt:lpstr>Jövőbeli tervek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Tamás Rumi</dc:creator>
  <cp:lastModifiedBy>Frey Bence</cp:lastModifiedBy>
  <cp:revision>57</cp:revision>
  <dcterms:created xsi:type="dcterms:W3CDTF">2021-05-27T05:39:43Z</dcterms:created>
  <dcterms:modified xsi:type="dcterms:W3CDTF">2026-06-04T21:17:21Z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0x0101009D574B1FC5CE7D419C037DC6AB881D60</vt:lpwstr>
  </property>
</Properties>
</file>